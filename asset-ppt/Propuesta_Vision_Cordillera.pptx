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0069C4">
              <a:alpha val="12000"/>
            </a:srgbClr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69C4">
              <a:alpha val="20000"/>
            </a:srgbClr>
          </a:solidFill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4754880"/>
            <a:ext cx="9034272" cy="36576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50292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069C4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02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8EDF2"/>
                </a:solidFill>
              </a:rPr>
              <a:t>CONSULTORÍA EMPRESARIAL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6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Cordillera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Orden, Claridad y Resultados para tu PYME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2560320" cy="123444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93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3429000"/>
            <a:ext cx="2560320" cy="123444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93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90d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Positivo Garantido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3429000"/>
            <a:ext cx="2560320" cy="123444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493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4041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Resultados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48006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E"/>
                </a:solidFill>
              </a:rPr>
              <a:t>Abril 2026  |  Chile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9C4"/>
                </a:solidFill>
              </a:rPr>
              <a:t>01  ·  PRESENTACIÓN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Transformamos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Acción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Cordillera es una consultoría especializada en transformar la realidad financiera y operativa de PYMES chilenas en planes de acción concretos y medibles.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Combinamos análisis financiero IFRS, auditoría interna, planificación estratégica y herramientas digitales para entregar resultados en semanas, no meses.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0" y="502920"/>
            <a:ext cx="3200400" cy="128016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0" y="612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Datos Verificables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06440" y="1005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IFRS real, no estimaciones.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0" y="1965960"/>
            <a:ext cx="3200400" cy="128016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Acción Inmediata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2468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en los primeros 30-90 días.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429000"/>
            <a:ext cx="3200400" cy="128016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5387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Enfoque en tu Realidad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3931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personalizadas para tu PYME.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E2B3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creemos en informes de 200 páginas que nadie lee. Nos enfocamos en claridad, orden y rentabilidad."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02  ·  TU NEGOCIO HOY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identificas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046720" cy="475488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 Márgenes que se diluyen sin saber por qué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8046720" cy="475488"/>
          </a:xfrm>
          <a:prstGeom prst="rect">
            <a:avLst/>
          </a:prstGeom>
          <a:solidFill>
            <a:srgbClr val="1A2332"/>
          </a:solidFill>
          <a:ln w="12700">
            <a:solidFill>
              <a:srgbClr val="2430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 El día a día te consume y no hay tiempo para planificar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8046720" cy="475488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540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 Ventas estables pero la rentabilidad no crece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8046720" cy="475488"/>
          </a:xfrm>
          <a:prstGeom prst="rect">
            <a:avLst/>
          </a:prstGeom>
          <a:solidFill>
            <a:srgbClr val="1A2332"/>
          </a:solidFill>
          <a:ln w="12700">
            <a:solidFill>
              <a:srgbClr val="24304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2102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 Datos financieros poco confiables para tomar decisiones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42232"/>
            <a:ext cx="8046720" cy="475488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8795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 Empresa familiar en proceso de profesionalización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502920"/>
            <a:ext cx="2011680" cy="1188720"/>
          </a:xfrm>
          <a:prstGeom prst="rect">
            <a:avLst/>
          </a:prstGeom>
          <a:solidFill>
            <a:srgbClr val="0069C4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5486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cierran antes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5 años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Cordillera fue creada exactamente para resolver estos problemas.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9C4"/>
                </a:solidFill>
              </a:rPr>
              <a:t>03  ·  SERVICIOS INTEGRALES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Estratégicas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834640" cy="1508760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80160"/>
            <a:ext cx="2834640" cy="64008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898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Empresarial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 IFRS + auditoría interna + revisión de procesos. Informe ejecutivo + análisis técnico.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80160"/>
            <a:ext cx="2834640" cy="1508760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28016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898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Estratégica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competitiva, objetivos a largo plazo y KPIs de seguimiento implementados.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834640" cy="1508760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280160"/>
            <a:ext cx="28346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898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719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Sistemas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Integridad, seguridad y fiabilidad de datos. Brechas identificadas y automatizaciones.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463040" y="2880360"/>
            <a:ext cx="2834640" cy="1508760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880360"/>
            <a:ext cx="2834640" cy="64008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2990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3319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Ventas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cartera, márgenes por segmento y estrategias de pricing basadas en datos.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2834640" cy="1508760"/>
          </a:xfrm>
          <a:prstGeom prst="rect">
            <a:avLst/>
          </a:prstGeom>
          <a:solidFill>
            <a:srgbClr val="1E2B3C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88036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99008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3192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Directivo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7033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mensual/trimestral. Ajustes estratégicos y capacitación del equipo.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04  ·  METODOLOGÍA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Paso a Paso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8046720" cy="54864"/>
          </a:xfrm>
          <a:prstGeom prst="rect">
            <a:avLst/>
          </a:prstGeom>
          <a:solidFill>
            <a:srgbClr val="0069C4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481328"/>
            <a:ext cx="384048" cy="384048"/>
          </a:xfrm>
          <a:prstGeom prst="ellipse">
            <a:avLst/>
          </a:prstGeom>
          <a:solidFill>
            <a:srgbClr val="0069C4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920240" cy="260604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20240"/>
            <a:ext cx="1920240" cy="54864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2450592"/>
            <a:ext cx="777240" cy="228600"/>
          </a:xfrm>
          <a:prstGeom prst="roundRect">
            <a:avLst>
              <a:gd name="adj" fmla="val 12000"/>
            </a:avLst>
          </a:prstGeom>
          <a:solidFill>
            <a:srgbClr val="0069C4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50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Entrevistas, acceso a sistemas y revisión de documentos clave.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1481328"/>
            <a:ext cx="384048" cy="38404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1920240"/>
            <a:ext cx="1920240" cy="2606040"/>
          </a:xfrm>
          <a:prstGeom prst="rect">
            <a:avLst/>
          </a:prstGeom>
          <a:solidFill>
            <a:srgbClr val="1E2B3C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92024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06040" y="2450592"/>
            <a:ext cx="777240" cy="228600"/>
          </a:xfrm>
          <a:prstGeom prst="roundRect">
            <a:avLst>
              <a:gd name="adj" fmla="val 120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2450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0604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IFRS, auditoría interna y mapeo de procesos.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1481328"/>
            <a:ext cx="384048" cy="384048"/>
          </a:xfrm>
          <a:prstGeom prst="ellipse">
            <a:avLst/>
          </a:prstGeom>
          <a:solidFill>
            <a:srgbClr val="EF4444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1920240"/>
            <a:ext cx="1920240" cy="2606040"/>
          </a:xfrm>
          <a:prstGeom prst="rect">
            <a:avLst/>
          </a:prstGeom>
          <a:solidFill>
            <a:srgbClr val="1E2B3C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1920240"/>
            <a:ext cx="1920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2450592"/>
            <a:ext cx="777240" cy="228600"/>
          </a:xfrm>
          <a:prstGeom prst="roundRect">
            <a:avLst>
              <a:gd name="adj" fmla="val 12000"/>
            </a:avLst>
          </a:prstGeom>
          <a:solidFill>
            <a:srgbClr val="EF4444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2450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1772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con directivos y confirmación de hallazgos.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40880" y="1481328"/>
            <a:ext cx="384048" cy="384048"/>
          </a:xfrm>
          <a:prstGeom prst="ellipse">
            <a:avLst/>
          </a:prstGeom>
          <a:solidFill>
            <a:srgbClr val="0069C4"/>
          </a:solidFill>
          <a:ln w="25400">
            <a:solidFill>
              <a:srgbClr val="1A2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37960" y="1920240"/>
            <a:ext cx="1920240" cy="260604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1920240"/>
            <a:ext cx="1920240" cy="54864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2029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2450592"/>
            <a:ext cx="777240" cy="228600"/>
          </a:xfrm>
          <a:prstGeom prst="roundRect">
            <a:avLst>
              <a:gd name="adj" fmla="val 12000"/>
            </a:avLst>
          </a:prstGeom>
          <a:solidFill>
            <a:srgbClr val="0069C4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24505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29400" y="278892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informe ejecutivo y plan de acción.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09928" y="15087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E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21608" y="15087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E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33288" y="15087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E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E2B3C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Principios: Pragmatismo sobre burocracia  ·  Datos verificables  ·  Acciones ejecutables  ·  Seguimiento real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05  ·  INDICADORES Y KPIs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Medimos, Mejora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65176" y="1207008"/>
            <a:ext cx="2084832" cy="333756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" y="1207008"/>
            <a:ext cx="2084832" cy="457200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" y="12070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" y="1994535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" y="170992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 y Neto por línea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" y="2388870"/>
            <a:ext cx="1865376" cy="18288"/>
          </a:xfrm>
          <a:prstGeom prst="rect">
            <a:avLst/>
          </a:prstGeom>
          <a:solidFill>
            <a:srgbClr val="0069C4">
              <a:alpha val="1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02336" y="2691765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" y="240715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 (ROE y ROA)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" y="3086100"/>
            <a:ext cx="1865376" cy="18288"/>
          </a:xfrm>
          <a:prstGeom prst="rect">
            <a:avLst/>
          </a:prstGeom>
          <a:solidFill>
            <a:srgbClr val="0069C4">
              <a:alpha val="1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" y="3388995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" y="310438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y Endeudamiento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4904" y="3783330"/>
            <a:ext cx="1865376" cy="18288"/>
          </a:xfrm>
          <a:prstGeom prst="rect">
            <a:avLst/>
          </a:prstGeom>
          <a:solidFill>
            <a:srgbClr val="0069C4">
              <a:alpha val="1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" y="4086225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" y="380161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 Flujo de Caja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41448" y="1207008"/>
            <a:ext cx="2084832" cy="3337560"/>
          </a:xfrm>
          <a:prstGeom prst="rect">
            <a:avLst/>
          </a:prstGeom>
          <a:solidFill>
            <a:srgbClr val="1E2B3C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41448" y="1207008"/>
            <a:ext cx="208483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441448" y="12070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78608" y="1994535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2734056" y="170992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por HH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51176" y="2388870"/>
            <a:ext cx="1865376" cy="18288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578608" y="2691765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2734056" y="240715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Procesos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51176" y="3086100"/>
            <a:ext cx="1865376" cy="18288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78608" y="3388995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2734056" y="310438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Metas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51176" y="3783330"/>
            <a:ext cx="1865376" cy="18288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8608" y="4086225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734056" y="380161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Automatización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1207008"/>
            <a:ext cx="2084832" cy="3337560"/>
          </a:xfrm>
          <a:prstGeom prst="rect">
            <a:avLst/>
          </a:prstGeom>
          <a:solidFill>
            <a:srgbClr val="1E2B3C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1207008"/>
            <a:ext cx="208483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12070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1994535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170992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y Frecuencia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27448" y="2388870"/>
            <a:ext cx="1865376" cy="18288"/>
          </a:xfrm>
          <a:prstGeom prst="rect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2691765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4910328" y="240715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Segmento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27448" y="3086100"/>
            <a:ext cx="1865376" cy="18288"/>
          </a:xfrm>
          <a:prstGeom prst="rect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388995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4910328" y="310438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Retención (Churn)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27448" y="3783330"/>
            <a:ext cx="1865376" cy="18288"/>
          </a:xfrm>
          <a:prstGeom prst="rect">
            <a:avLst/>
          </a:prstGeom>
          <a:solidFill>
            <a:srgbClr val="EF4444">
              <a:alpha val="1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4086225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6" name="Text 44"/>
          <p:cNvSpPr/>
          <p:nvPr/>
        </p:nvSpPr>
        <p:spPr>
          <a:xfrm>
            <a:off x="4910328" y="380161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vs. LTV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93992" y="1207008"/>
            <a:ext cx="2084832" cy="3337560"/>
          </a:xfrm>
          <a:prstGeom prst="rect">
            <a:avLst/>
          </a:prstGeom>
          <a:solidFill>
            <a:srgbClr val="1E2B3C"/>
          </a:solidFill>
          <a:ln w="12700">
            <a:solidFill>
              <a:srgbClr val="8FA3BE">
                <a:alpha val="4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93992" y="1207008"/>
            <a:ext cx="2084832" cy="457200"/>
          </a:xfrm>
          <a:prstGeom prst="rect">
            <a:avLst/>
          </a:prstGeom>
          <a:solidFill>
            <a:srgbClr val="8FA3BE"/>
          </a:solidFill>
          <a:ln/>
        </p:spPr>
      </p:sp>
      <p:sp>
        <p:nvSpPr>
          <p:cNvPr id="49" name="Text 47"/>
          <p:cNvSpPr/>
          <p:nvPr/>
        </p:nvSpPr>
        <p:spPr>
          <a:xfrm>
            <a:off x="6793992" y="120700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y Control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31152" y="1994535"/>
            <a:ext cx="91440" cy="91440"/>
          </a:xfrm>
          <a:prstGeom prst="ellipse">
            <a:avLst/>
          </a:prstGeom>
          <a:solidFill>
            <a:srgbClr val="8FA3BE"/>
          </a:solidFill>
          <a:ln/>
        </p:spPr>
      </p:sp>
      <p:sp>
        <p:nvSpPr>
          <p:cNvPr id="51" name="Text 49"/>
          <p:cNvSpPr/>
          <p:nvPr/>
        </p:nvSpPr>
        <p:spPr>
          <a:xfrm>
            <a:off x="7086600" y="170992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de Clientes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03720" y="2388870"/>
            <a:ext cx="1865376" cy="18288"/>
          </a:xfrm>
          <a:prstGeom prst="rect">
            <a:avLst/>
          </a:prstGeom>
          <a:solidFill>
            <a:srgbClr val="8FA3BE">
              <a:alpha val="1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931152" y="2691765"/>
            <a:ext cx="91440" cy="91440"/>
          </a:xfrm>
          <a:prstGeom prst="ellipse">
            <a:avLst/>
          </a:prstGeom>
          <a:solidFill>
            <a:srgbClr val="8FA3BE"/>
          </a:solidFill>
          <a:ln/>
        </p:spPr>
      </p:sp>
      <p:sp>
        <p:nvSpPr>
          <p:cNvPr id="54" name="Text 52"/>
          <p:cNvSpPr/>
          <p:nvPr/>
        </p:nvSpPr>
        <p:spPr>
          <a:xfrm>
            <a:off x="7086600" y="240715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de Cumplimiento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03720" y="3086100"/>
            <a:ext cx="1865376" cy="18288"/>
          </a:xfrm>
          <a:prstGeom prst="rect">
            <a:avLst/>
          </a:prstGeom>
          <a:solidFill>
            <a:srgbClr val="8FA3BE">
              <a:alpha val="1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931152" y="3388995"/>
            <a:ext cx="91440" cy="91440"/>
          </a:xfrm>
          <a:prstGeom prst="ellipse">
            <a:avLst/>
          </a:prstGeom>
          <a:solidFill>
            <a:srgbClr val="8FA3BE"/>
          </a:solidFill>
          <a:ln/>
        </p:spPr>
      </p:sp>
      <p:sp>
        <p:nvSpPr>
          <p:cNvPr id="57" name="Text 55"/>
          <p:cNvSpPr/>
          <p:nvPr/>
        </p:nvSpPr>
        <p:spPr>
          <a:xfrm>
            <a:off x="7086600" y="310438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de Control Interno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03720" y="3783330"/>
            <a:ext cx="1865376" cy="18288"/>
          </a:xfrm>
          <a:prstGeom prst="rect">
            <a:avLst/>
          </a:prstGeom>
          <a:solidFill>
            <a:srgbClr val="8FA3BE">
              <a:alpha val="1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931152" y="4086225"/>
            <a:ext cx="91440" cy="91440"/>
          </a:xfrm>
          <a:prstGeom prst="ellipse">
            <a:avLst/>
          </a:prstGeom>
          <a:solidFill>
            <a:srgbClr val="8FA3BE"/>
          </a:solidFill>
          <a:ln/>
        </p:spPr>
      </p:sp>
      <p:sp>
        <p:nvSpPr>
          <p:cNvPr id="60" name="Text 58"/>
          <p:cNvSpPr/>
          <p:nvPr/>
        </p:nvSpPr>
        <p:spPr>
          <a:xfrm>
            <a:off x="7086600" y="3801618"/>
            <a:ext cx="1719072" cy="6972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Datos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69C4"/>
                </a:solidFill>
              </a:rPr>
              <a:t>06  ·  INVERSIÓN Y RESULTADOS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Punto de Partida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98064" cy="3703320"/>
          </a:xfrm>
          <a:prstGeom prst="rect">
            <a:avLst/>
          </a:prstGeom>
          <a:solidFill>
            <a:srgbClr val="1E2B3C"/>
          </a:solidFill>
          <a:ln w="12700">
            <a:solidFill>
              <a:srgbClr val="0069C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98064" cy="54864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3716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069C4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STARTER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04872"/>
            <a:ext cx="2240280" cy="36576"/>
          </a:xfrm>
          <a:prstGeom prst="rect">
            <a:avLst/>
          </a:prstGeom>
          <a:solidFill>
            <a:srgbClr val="0069C4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2542032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487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financiero IFRS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944368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889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 rápida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3346704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2918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 (5-10 pág.)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3749040"/>
            <a:ext cx="91440" cy="9144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oportunidades identificadas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434840"/>
            <a:ext cx="2514600" cy="411480"/>
          </a:xfrm>
          <a:prstGeom prst="rect">
            <a:avLst/>
          </a:prstGeom>
          <a:solidFill>
            <a:srgbClr val="0069C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Claridad total del negocio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1256" y="1234440"/>
            <a:ext cx="2907792" cy="3813048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46120" y="1280160"/>
            <a:ext cx="2798064" cy="3703320"/>
          </a:xfrm>
          <a:prstGeom prst="rect">
            <a:avLst/>
          </a:prstGeom>
          <a:solidFill>
            <a:srgbClr val="1E2B3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280160"/>
            <a:ext cx="2798064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4050792" y="13716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050792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RECOMENDADO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520440" y="2404872"/>
            <a:ext cx="224028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447288" y="25420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593592" y="2487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47288" y="29443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593592" y="2889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hoja de ruta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47288" y="33467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3593592" y="32918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implementados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47288" y="37490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3593592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margen 5-15%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83280" y="4434840"/>
            <a:ext cx="2514600" cy="411480"/>
          </a:xfrm>
          <a:prstGeom prst="rect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Margen +5% a +15%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26480" y="1280160"/>
            <a:ext cx="2798064" cy="3703320"/>
          </a:xfrm>
          <a:prstGeom prst="rect">
            <a:avLst/>
          </a:prstGeom>
          <a:solidFill>
            <a:srgbClr val="1E2B3C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1280160"/>
            <a:ext cx="2798064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931152" y="137160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931152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COMPLETO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263640" y="169164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0800" y="2404872"/>
            <a:ext cx="2240280" cy="36576"/>
          </a:xfrm>
          <a:prstGeom prst="rect">
            <a:avLst/>
          </a:prstGeom>
          <a:solidFill>
            <a:srgbClr val="EF4444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327648" y="254203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473952" y="24871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27648" y="29443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6473952" y="28895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acompañada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27648" y="334670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6473952" y="32918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mensual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27648" y="374904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6473952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63640" y="4434840"/>
            <a:ext cx="2514600" cy="41148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263640" y="4434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positivo en 90 días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07  ·  PRÓXIMOS PASOS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 Tu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Hoy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901952"/>
            <a:ext cx="365760" cy="36576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0352" y="2286000"/>
            <a:ext cx="0" cy="201168"/>
          </a:xfrm>
          <a:prstGeom prst="line">
            <a:avLst/>
          </a:prstGeom>
          <a:noFill/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11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Inicial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Conversamos sobre tus desafíos actuales.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47802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862072"/>
            <a:ext cx="0" cy="201168"/>
          </a:xfrm>
          <a:prstGeom prst="line">
            <a:avLst/>
          </a:prstGeom>
          <a:noFill/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87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Personalizada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detallado con fechas, costos y alcance.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54096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3438144"/>
            <a:ext cx="0" cy="201168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e Inicio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273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Firmamos contrato y comenzamos recopilación.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30168"/>
            <a:ext cx="365760" cy="365760"/>
          </a:xfrm>
          <a:prstGeom prst="ellipse">
            <a:avLst/>
          </a:prstGeom>
          <a:solidFill>
            <a:srgbClr val="0069C4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" y="4014216"/>
            <a:ext cx="0" cy="201168"/>
          </a:xfrm>
          <a:prstGeom prst="line">
            <a:avLst/>
          </a:prstGeom>
          <a:noFill/>
          <a:ln w="12700">
            <a:solidFill>
              <a:srgbClr val="0069C4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393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en Vivo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849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compartidos en tiempo real, sin sorpresas.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2153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4256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Ejecutamos el plan con tu equipo. Seguimiento incluido.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1874520"/>
            <a:ext cx="3840480" cy="2971800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05740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 para transformar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PYME?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12080" y="29992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hoy tu diagnóstico gratuito y descubre el potencial real de tu empresa.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767328"/>
            <a:ext cx="347472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76732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Gratuito 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43708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visioncordillera.cl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069C4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F59E0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9C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Cordillera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Impacto Real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69C4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"Transformamos la información de tu negocio en acciones concretas.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diagnóstico hasta los resultados medibles."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1E2B3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 ·  Consultoría para PYMES  ·  Análisis Financiero IFRS  ·  Auditoría  ·  Estrategia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visioncordillera.cl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Visión Cordillera – Propuesta de Servicios</dc:title>
  <dc:subject>PptxGenJS Presentation</dc:subject>
  <dc:creator>PptxGenJS</dc:creator>
  <cp:lastModifiedBy>PptxGenJS</cp:lastModifiedBy>
  <cp:revision>1</cp:revision>
  <dcterms:created xsi:type="dcterms:W3CDTF">2026-04-08T01:39:36Z</dcterms:created>
  <dcterms:modified xsi:type="dcterms:W3CDTF">2026-04-08T01:39:36Z</dcterms:modified>
</cp:coreProperties>
</file>